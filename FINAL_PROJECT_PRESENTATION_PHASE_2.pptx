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PHASE 2 FINAL PROJECT DEFENSE</a:t>
            </a:r>
          </a:p>
          <a:p>
            <a:pPr>
              <a:spcBef>
                <a:spcPts val="1000"/>
              </a:spcBef>
              <a:defRPr sz="4000" b="1">
                <a:solidFill>
                  <a:srgbClr val="F8FAFC"/>
                </a:solidFill>
              </a:defRPr>
            </a:pPr>
            <a:r>
              <a:t>Customer Churn Prediction System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</a:defRPr>
            </a:pPr>
            <a:r>
              <a:t>An End-to-End Machine Learning Intelligence Platform for Telecom Retention &amp; Revenue Protection</a:t>
            </a:r>
          </a:p>
          <a:p>
            <a:pPr>
              <a:spcBef>
                <a:spcPts val="2800"/>
              </a:spcBef>
              <a:defRPr sz="1300">
                <a:solidFill>
                  <a:srgbClr val="6366F1"/>
                </a:solidFill>
              </a:defRPr>
            </a:pPr>
            <a:r>
              <a:t>Presenter: Dhiraj Mahajan | Stack: Python, Scikit-learn, Flask, MySQL, Docker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CUSTOMER CHURN PREDICTION SYSTEM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The Telecom Customer Churn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 b="1">
                <a:solidFill>
                  <a:srgbClr val="F8FAFC"/>
                </a:solidFill>
              </a:defRPr>
            </a:pPr>
            <a:r>
              <a:t>•  The Revenue Problem: </a:t>
            </a:r>
            <a:r>
              <a:rPr b="0">
                <a:solidFill>
                  <a:srgbClr val="94A3B8"/>
                </a:solidFill>
              </a:rPr>
              <a:t>Telecommunication providers lose massive Annual Recurring Revenue (ARR) when subscribers terminate contracts. Historical churn in the dataset sits at 26.5%.</a:t>
            </a:r>
          </a:p>
          <a:p>
            <a:pPr>
              <a:spcBef>
                <a:spcPts val="1400"/>
              </a:spcBef>
              <a:defRPr sz="1500" b="1">
                <a:solidFill>
                  <a:srgbClr val="F8FAFC"/>
                </a:solidFill>
              </a:defRPr>
            </a:pPr>
            <a:r>
              <a:t>•  The Economic Equation: </a:t>
            </a:r>
            <a:r>
              <a:rPr b="0">
                <a:solidFill>
                  <a:srgbClr val="94A3B8"/>
                </a:solidFill>
              </a:rPr>
              <a:t>Customer Acquisition Cost (CAC) is 5x to 7x higher than Customer Retention Cost (CRC). Retaining existing subscribers directly protects gross margin.</a:t>
            </a:r>
          </a:p>
          <a:p>
            <a:pPr>
              <a:spcBef>
                <a:spcPts val="1400"/>
              </a:spcBef>
              <a:defRPr sz="1500" b="1">
                <a:solidFill>
                  <a:srgbClr val="F8FAFC"/>
                </a:solidFill>
              </a:defRPr>
            </a:pPr>
            <a:r>
              <a:t>•  The Solution Delivered: </a:t>
            </a:r>
            <a:r>
              <a:rPr b="0">
                <a:solidFill>
                  <a:srgbClr val="94A3B8"/>
                </a:solidFill>
              </a:rPr>
              <a:t>An end-to-end Machine Learning decision support workbench that identifies high-risk subscribers, explains root-cause drivers, calculates ARR at risk, and prescribes automated retention playbooks.</a:t>
            </a:r>
          </a:p>
          <a:p>
            <a:pPr>
              <a:spcBef>
                <a:spcPts val="1400"/>
              </a:spcBef>
              <a:defRPr sz="1500" b="1">
                <a:solidFill>
                  <a:srgbClr val="F8FAFC"/>
                </a:solidFill>
              </a:defRPr>
            </a:pPr>
            <a:r>
              <a:t>•  Core Production Objectives: </a:t>
            </a:r>
            <a:r>
              <a:rPr b="0">
                <a:solidFill>
                  <a:srgbClr val="94A3B8"/>
                </a:solidFill>
              </a:rPr>
              <a:t>Exceed 0.83 ROC-AUC, tune decision threshold for ~70% churn recall, serve via interactive REST API &amp; Web GUI, and ensure resilient database logging.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CUSTOMER CHURN PREDICTION SYSTEM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Dataset Profile &amp; Exploratory Discoveries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 b="1">
                <a:solidFill>
                  <a:srgbClr val="F8FAFC"/>
                </a:solidFill>
              </a:defRPr>
            </a:pPr>
            <a:r>
              <a:t>•  Cohort Scope: </a:t>
            </a:r>
            <a:r>
              <a:rPr b="0">
                <a:solidFill>
                  <a:srgbClr val="94A3B8"/>
                </a:solidFill>
              </a:rPr>
              <a:t>7,043 subscriber records across 20 raw demographic, contractual, and service features (IBM Telco benchmark).</a:t>
            </a:r>
          </a:p>
          <a:p>
            <a:pPr>
              <a:spcBef>
                <a:spcPts val="1400"/>
              </a:spcBef>
              <a:defRPr sz="1500" b="1">
                <a:solidFill>
                  <a:srgbClr val="F8FAFC"/>
                </a:solidFill>
              </a:defRPr>
            </a:pPr>
            <a:r>
              <a:t>•  Contract Vulnerability: </a:t>
            </a:r>
            <a:r>
              <a:rPr b="0">
                <a:solidFill>
                  <a:srgbClr val="94A3B8"/>
                </a:solidFill>
              </a:rPr>
              <a:t>Subscribers on Month-to-month contracts experience a 42.7% churn rate, compared to only 2.8% on 2-year contracts.</a:t>
            </a:r>
          </a:p>
          <a:p>
            <a:pPr>
              <a:spcBef>
                <a:spcPts val="1400"/>
              </a:spcBef>
              <a:defRPr sz="1500" b="1">
                <a:solidFill>
                  <a:srgbClr val="F8FAFC"/>
                </a:solidFill>
              </a:defRPr>
            </a:pPr>
            <a:r>
              <a:t>•  The Tenure Hazard Curve: </a:t>
            </a:r>
            <a:r>
              <a:rPr b="0">
                <a:solidFill>
                  <a:srgbClr val="94A3B8"/>
                </a:solidFill>
              </a:rPr>
              <a:t>Subscribers in their first 6 months exhibit the highest cancellation probability. Churn drops exponentially as tenure crosses 24 months.</a:t>
            </a:r>
          </a:p>
          <a:p>
            <a:pPr>
              <a:spcBef>
                <a:spcPts val="1400"/>
              </a:spcBef>
              <a:defRPr sz="1500" b="1">
                <a:solidFill>
                  <a:srgbClr val="F8FAFC"/>
                </a:solidFill>
              </a:defRPr>
            </a:pPr>
            <a:r>
              <a:t>•  Payment Friction: </a:t>
            </a:r>
            <a:r>
              <a:rPr b="0">
                <a:solidFill>
                  <a:srgbClr val="94A3B8"/>
                </a:solidFill>
              </a:rPr>
              <a:t>Customers paying by manual Electronic Check churn at more than double the rate of automated ACH / Credit Card autopay users.</a:t>
            </a:r>
          </a:p>
          <a:p>
            <a:pPr>
              <a:spcBef>
                <a:spcPts val="1400"/>
              </a:spcBef>
              <a:defRPr sz="1500" b="1">
                <a:solidFill>
                  <a:srgbClr val="F8FAFC"/>
                </a:solidFill>
              </a:defRPr>
            </a:pPr>
            <a:r>
              <a:t>•  Support Service Anchoring: </a:t>
            </a:r>
            <a:r>
              <a:rPr b="0">
                <a:solidFill>
                  <a:srgbClr val="94A3B8"/>
                </a:solidFill>
              </a:rPr>
              <a:t>Lack of Online Security and Tech Support add-ons correlates with higher attrition during price friction.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CUSTOMER CHURN PREDICTION SYSTEM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Model Benchmarking &amp; 5-Fold Stratified Cross-Validation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5878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Classifier Algorithm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5-Fold CV ROC-AUC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Test ROC-AUC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Test PR-AUC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Test Recall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Test F1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Gradient Boosting (WINNER)</a:t>
                      </a:r>
                    </a:p>
                  </a:txBody>
                  <a:tcPr>
                    <a:solidFill>
                      <a:srgbClr val="1E29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0.8488 ± 0.011</a:t>
                      </a:r>
                    </a:p>
                  </a:txBody>
                  <a:tcPr>
                    <a:solidFill>
                      <a:srgbClr val="1E29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0.8441</a:t>
                      </a:r>
                    </a:p>
                  </a:txBody>
                  <a:tcPr>
                    <a:solidFill>
                      <a:srgbClr val="1E29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0.6599</a:t>
                      </a:r>
                    </a:p>
                  </a:txBody>
                  <a:tcPr>
                    <a:solidFill>
                      <a:srgbClr val="1E29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0.6872</a:t>
                      </a:r>
                    </a:p>
                  </a:txBody>
                  <a:tcPr>
                    <a:solidFill>
                      <a:srgbClr val="1E29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0.6238</a:t>
                      </a:r>
                    </a:p>
                  </a:txBody>
                  <a:tcPr>
                    <a:solidFill>
                      <a:srgbClr val="1E2941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0.8473 ± 0.0109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0.8441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0.6561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0.8396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0.6249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0.8459 ± 0.0124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0.8419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0.6344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0.8369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0.6131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AdaBoost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0.8451 ± 0.0122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0.8408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0.6507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0.6765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0.6111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HistGradientBoosting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0.8359 ± 0.0109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0.8365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0.6436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0.7834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0.6221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0.8250 ± 0.0091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0.8298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0.6009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0.8529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0.6111</a:t>
                      </a:r>
                    </a:p>
                  </a:txBody>
                  <a:tcPr>
                    <a:solidFill>
                      <a:srgbClr val="151D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CUSTOMER CHURN PREDICTION SYSTEM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Performance Visualizations &amp; Discriminative Power</a:t>
            </a:r>
          </a:p>
        </p:txBody>
      </p:sp>
      <p:pic>
        <p:nvPicPr>
          <p:cNvPr id="3" name="Picture 2" descr="02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3840480"/>
          </a:xfrm>
          <a:prstGeom prst="rect">
            <a:avLst/>
          </a:prstGeom>
        </p:spPr>
      </p:pic>
      <p:pic>
        <p:nvPicPr>
          <p:cNvPr id="4" name="Picture 3" descr="01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12064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CUSTOMER CHURN PREDICTION SYSTEM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Threshold Optimization &amp; Recall Maximization</a:t>
            </a:r>
          </a:p>
        </p:txBody>
      </p:sp>
      <p:pic>
        <p:nvPicPr>
          <p:cNvPr id="3" name="Picture 2" descr="05_threshold_tu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303520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400" b="1">
                <a:solidFill>
                  <a:srgbClr val="F8FAFC"/>
                </a:solidFill>
              </a:defRPr>
            </a:pPr>
            <a:r>
              <a:t>•  The Asymmetric Cost Paradigm: </a:t>
            </a:r>
            <a:r>
              <a:rPr b="0">
                <a:solidFill>
                  <a:srgbClr val="94A3B8"/>
                </a:solidFill>
              </a:rPr>
              <a:t>A False Negative (customer leaves undetected) forfeits full annual contract revenue. A False Positive incurs only a small discount outreach.</a:t>
            </a:r>
          </a:p>
          <a:p>
            <a:pPr>
              <a:spcBef>
                <a:spcPts val="1600"/>
              </a:spcBef>
              <a:defRPr sz="1400" b="1">
                <a:solidFill>
                  <a:srgbClr val="F8FAFC"/>
                </a:solidFill>
              </a:defRPr>
            </a:pPr>
            <a:r>
              <a:t>•  Tuned Threshold (0.3594): </a:t>
            </a:r>
            <a:r>
              <a:rPr b="0">
                <a:solidFill>
                  <a:srgbClr val="94A3B8"/>
                </a:solidFill>
              </a:rPr>
              <a:t>Optimized on validation data via Precision-Recall trade-off curve to hit the PRD target of ~70% churn recall.</a:t>
            </a:r>
          </a:p>
          <a:p>
            <a:pPr>
              <a:spcBef>
                <a:spcPts val="1600"/>
              </a:spcBef>
              <a:defRPr sz="1400" b="1">
                <a:solidFill>
                  <a:srgbClr val="F8FAFC"/>
                </a:solidFill>
              </a:defRPr>
            </a:pPr>
            <a:r>
              <a:t>•  Outcome: </a:t>
            </a:r>
            <a:r>
              <a:rPr b="0">
                <a:solidFill>
                  <a:srgbClr val="94A3B8"/>
                </a:solidFill>
              </a:rPr>
              <a:t>Captures ~70% of potential churners before cancellation occurs, while maintaining an industry-leading 0.8441 ROC-AUC.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CUSTOMER CHURN PREDICTION SYSTEM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Root-Cause Explainability Drivers</a:t>
            </a:r>
          </a:p>
        </p:txBody>
      </p:sp>
      <p:pic>
        <p:nvPicPr>
          <p:cNvPr id="3" name="Picture 2" descr="04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440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75120" y="16459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400" b="1">
                <a:solidFill>
                  <a:srgbClr val="F8FAFC"/>
                </a:solidFill>
              </a:defRPr>
            </a:pPr>
            <a:r>
              <a:t>•  Top Churn Drivers (+): </a:t>
            </a:r>
            <a:r>
              <a:rPr b="0">
                <a:solidFill>
                  <a:srgbClr val="94A3B8"/>
                </a:solidFill>
              </a:rPr>
              <a:t>Month-to-month contracts, short tenure (&lt;6 mo), Electronic check payments, Fiber optic high monthly charges, and Paperless billing.</a:t>
            </a:r>
          </a:p>
          <a:p>
            <a:pPr>
              <a:spcBef>
                <a:spcPts val="1600"/>
              </a:spcBef>
              <a:defRPr sz="1400" b="1">
                <a:solidFill>
                  <a:srgbClr val="F8FAFC"/>
                </a:solidFill>
              </a:defRPr>
            </a:pPr>
            <a:r>
              <a:t>•  Top Retention Anchors (-): </a:t>
            </a:r>
            <a:r>
              <a:rPr b="0">
                <a:solidFill>
                  <a:srgbClr val="94A3B8"/>
                </a:solidFill>
              </a:rPr>
              <a:t>Two-year &amp; One-year contracts, high tenure (&gt;24 mo), automated Credit Card/Bank payments, and active Tech Support bundles.</a:t>
            </a:r>
          </a:p>
          <a:p>
            <a:pPr>
              <a:spcBef>
                <a:spcPts val="1600"/>
              </a:spcBef>
              <a:defRPr sz="1400" b="1">
                <a:solidFill>
                  <a:srgbClr val="F8FAFC"/>
                </a:solidFill>
              </a:defRPr>
            </a:pPr>
            <a:r>
              <a:t>•  Explainability in UI: </a:t>
            </a:r>
            <a:r>
              <a:rPr b="0">
                <a:solidFill>
                  <a:srgbClr val="94A3B8"/>
                </a:solidFill>
              </a:rPr>
              <a:t>The web dashboard breaks down every customer's prediction into plain-English driver cards and visual progress meters.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CUSTOMER CHURN PREDICTION SYSTEM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Production Web Application &amp; 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500" b="1">
                <a:solidFill>
                  <a:srgbClr val="F8FAFC"/>
                </a:solidFill>
              </a:defRPr>
            </a:pPr>
            <a:r>
              <a:t>•  Live What-If Parameter Sliders: </a:t>
            </a:r>
            <a:r>
              <a:rPr b="0">
                <a:solidFill>
                  <a:srgbClr val="94A3B8"/>
                </a:solidFill>
              </a:rPr>
              <a:t>Instant debounced sliders for Tenure (0–72 mo) and Monthly Charges ($18–$120/mo) with live recalculation.</a:t>
            </a:r>
          </a:p>
          <a:p>
            <a:pPr>
              <a:spcBef>
                <a:spcPts val="1400"/>
              </a:spcBef>
              <a:defRPr sz="1500" b="1">
                <a:solidFill>
                  <a:srgbClr val="F8FAFC"/>
                </a:solidFill>
              </a:defRPr>
            </a:pPr>
            <a:r>
              <a:t>•  Animated Radial Risk Dial: </a:t>
            </a:r>
            <a:r>
              <a:rPr b="0">
                <a:solidFill>
                  <a:srgbClr val="94A3B8"/>
                </a:solidFill>
              </a:rPr>
              <a:t>SVG dial with dynamic color coding: Emerald (&lt;35% Low Risk), Amber (35–65% Medium Risk), Crimson (&gt;65% High Risk).</a:t>
            </a:r>
          </a:p>
          <a:p>
            <a:pPr>
              <a:spcBef>
                <a:spcPts val="1400"/>
              </a:spcBef>
              <a:defRPr sz="1500" b="1">
                <a:solidFill>
                  <a:srgbClr val="F8FAFC"/>
                </a:solidFill>
              </a:defRPr>
            </a:pPr>
            <a:r>
              <a:t>•  1-Click Customer Presets: </a:t>
            </a:r>
            <a:r>
              <a:rPr b="0">
                <a:solidFill>
                  <a:srgbClr val="94A3B8"/>
                </a:solidFill>
              </a:rPr>
              <a:t>Pre-loaded archetypes: High-Risk Newbie, Fiber Optic At-Risk, Loyal Enterprise, and Budget Basic.</a:t>
            </a:r>
          </a:p>
          <a:p>
            <a:pPr>
              <a:spcBef>
                <a:spcPts val="1400"/>
              </a:spcBef>
              <a:defRPr sz="1500" b="1">
                <a:solidFill>
                  <a:srgbClr val="F8FAFC"/>
                </a:solidFill>
              </a:defRPr>
            </a:pPr>
            <a:r>
              <a:t>•  Prescriptive Retention Playbook: </a:t>
            </a:r>
            <a:r>
              <a:rPr b="0">
                <a:solidFill>
                  <a:srgbClr val="94A3B8"/>
                </a:solidFill>
              </a:rPr>
              <a:t>Automated next-best-action recommendations (e.g. 15% discount on 1-year contract, $10 autopay incentive).</a:t>
            </a:r>
          </a:p>
          <a:p>
            <a:pPr>
              <a:spcBef>
                <a:spcPts val="1400"/>
              </a:spcBef>
              <a:defRPr sz="1500" b="1">
                <a:solidFill>
                  <a:srgbClr val="F8FAFC"/>
                </a:solidFill>
              </a:defRPr>
            </a:pPr>
            <a:r>
              <a:t>•  Executive PDF Dossier Export: </a:t>
            </a:r>
            <a:r>
              <a:rPr b="0">
                <a:solidFill>
                  <a:srgbClr val="94A3B8"/>
                </a:solidFill>
              </a:rPr>
              <a:t>1-Click printable executive retention assessment document for customer success teams.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CUSTOMER CHURN PREDICTION SYSTEM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Financial Valuation &amp; ARR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500" b="1">
                <a:solidFill>
                  <a:srgbClr val="F8FAFC"/>
                </a:solidFill>
              </a:defRPr>
            </a:pPr>
            <a:r>
              <a:t>•  Translating Probability to Revenue: </a:t>
            </a:r>
            <a:r>
              <a:rPr b="0">
                <a:solidFill>
                  <a:srgbClr val="94A3B8"/>
                </a:solidFill>
              </a:rPr>
              <a:t>Machine learning probabilities are mapped to financial dollar metrics to justify retention expenditure.</a:t>
            </a:r>
          </a:p>
          <a:p>
            <a:pPr>
              <a:spcBef>
                <a:spcPts val="1600"/>
              </a:spcBef>
              <a:defRPr sz="1500" b="1">
                <a:solidFill>
                  <a:srgbClr val="F8FAFC"/>
                </a:solidFill>
              </a:defRPr>
            </a:pPr>
            <a:r>
              <a:t>•  Annual ARR at Stake ($/yr): </a:t>
            </a:r>
            <a:r>
              <a:rPr b="0">
                <a:solidFill>
                  <a:srgbClr val="94A3B8"/>
                </a:solidFill>
              </a:rPr>
              <a:t>Calculated as MonthlyCharges × 12 × ChurnProbability. Quantifies exact risk exposure per customer account.</a:t>
            </a:r>
          </a:p>
          <a:p>
            <a:pPr>
              <a:spcBef>
                <a:spcPts val="1600"/>
              </a:spcBef>
              <a:defRPr sz="1500" b="1">
                <a:solidFill>
                  <a:srgbClr val="F8FAFC"/>
                </a:solidFill>
              </a:defRPr>
            </a:pPr>
            <a:r>
              <a:t>•  Retention Value Gain ($/yr): </a:t>
            </a:r>
            <a:r>
              <a:rPr b="0">
                <a:solidFill>
                  <a:srgbClr val="94A3B8"/>
                </a:solidFill>
              </a:rPr>
              <a:t>Projects expected dollar recovery if the customer adopts the recommended retention intervention.</a:t>
            </a:r>
          </a:p>
          <a:p>
            <a:pPr>
              <a:spcBef>
                <a:spcPts val="1600"/>
              </a:spcBef>
              <a:defRPr sz="1500" b="1">
                <a:solidFill>
                  <a:srgbClr val="F8FAFC"/>
                </a:solidFill>
              </a:defRPr>
            </a:pPr>
            <a:r>
              <a:t>•  Executive Impact: </a:t>
            </a:r>
            <a:r>
              <a:rPr b="0">
                <a:solidFill>
                  <a:srgbClr val="94A3B8"/>
                </a:solidFill>
              </a:rPr>
              <a:t>Equips customer success directors and account managers with quantifiable ROI metrics for proactive outreach.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CUSTOMER CHURN PREDICTION SYSTEM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Batch Portfolio Scoring &amp; Audit 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500" b="1">
                <a:solidFill>
                  <a:srgbClr val="F8FAFC"/>
                </a:solidFill>
              </a:defRPr>
            </a:pPr>
            <a:r>
              <a:t>•  High-Throughput CSV Scoring: </a:t>
            </a:r>
            <a:r>
              <a:rPr b="0">
                <a:solidFill>
                  <a:srgbClr val="94A3B8"/>
                </a:solidFill>
              </a:rPr>
              <a:t>Upload customer CSV spreadsheets to evaluate cohorts of hundreds or thousands of customers simultaneously.</a:t>
            </a:r>
          </a:p>
          <a:p>
            <a:pPr>
              <a:spcBef>
                <a:spcPts val="1600"/>
              </a:spcBef>
              <a:defRPr sz="1500" b="1">
                <a:solidFill>
                  <a:srgbClr val="F8FAFC"/>
                </a:solidFill>
              </a:defRPr>
            </a:pPr>
            <a:r>
              <a:t>•  Instant Portfolio Segmentation: </a:t>
            </a:r>
            <a:r>
              <a:rPr b="0">
                <a:solidFill>
                  <a:srgbClr val="94A3B8"/>
                </a:solidFill>
              </a:rPr>
              <a:t>Returns total accounts analyzed, high-risk counts, and predicted churners with downloadable scored CSV.</a:t>
            </a:r>
          </a:p>
          <a:p>
            <a:pPr>
              <a:spcBef>
                <a:spcPts val="1600"/>
              </a:spcBef>
              <a:defRPr sz="1500" b="1">
                <a:solidFill>
                  <a:srgbClr val="F8FAFC"/>
                </a:solidFill>
              </a:defRPr>
            </a:pPr>
            <a:r>
              <a:t>•  Relational Database Logging: </a:t>
            </a:r>
            <a:r>
              <a:rPr b="0">
                <a:solidFill>
                  <a:srgbClr val="94A3B8"/>
                </a:solidFill>
              </a:rPr>
              <a:t>Every prediction event is recorded using parameterized SQL queries in MySQL (with zero-downtime SQLite fallback).</a:t>
            </a:r>
          </a:p>
          <a:p>
            <a:pPr>
              <a:spcBef>
                <a:spcPts val="1600"/>
              </a:spcBef>
              <a:defRPr sz="1500" b="1">
                <a:solidFill>
                  <a:srgbClr val="F8FAFC"/>
                </a:solidFill>
              </a:defRPr>
            </a:pPr>
            <a:r>
              <a:t>•  Historical Audit View (/history): </a:t>
            </a:r>
            <a:r>
              <a:rPr b="0">
                <a:solidFill>
                  <a:srgbClr val="94A3B8"/>
                </a:solidFill>
              </a:rPr>
              <a:t>Searchable, filterable audit interface pre-seeded with 25 realistic historical records for evaluation.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CUSTOMER CHURN PREDICTION SYSTEM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Quality Assurance, Containerization &amp; 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500" b="1">
                <a:solidFill>
                  <a:srgbClr val="F8FAFC"/>
                </a:solidFill>
              </a:defRPr>
            </a:pPr>
            <a:r>
              <a:t>•  100% Automated Test Pass Rate: </a:t>
            </a:r>
            <a:r>
              <a:rPr b="0">
                <a:solidFill>
                  <a:srgbClr val="94A3B8"/>
                </a:solidFill>
              </a:rPr>
              <a:t>22 comprehensive tests in pytest covering feature encoding, model loading, API contracts, batch ingestion, and database operations.</a:t>
            </a:r>
          </a:p>
          <a:p>
            <a:pPr>
              <a:spcBef>
                <a:spcPts val="1600"/>
              </a:spcBef>
              <a:defRPr sz="1500" b="1">
                <a:solidFill>
                  <a:srgbClr val="F8FAFC"/>
                </a:solidFill>
              </a:defRPr>
            </a:pPr>
            <a:r>
              <a:t>•  Zero-Downtime Retraining (src/retrain.py): </a:t>
            </a:r>
            <a:r>
              <a:rPr b="0">
                <a:solidFill>
                  <a:srgbClr val="94A3B8"/>
                </a:solidFill>
              </a:rPr>
              <a:t>Automated champion-challenger pipeline benchmarks challenger models on new data before promotion.</a:t>
            </a:r>
          </a:p>
          <a:p>
            <a:pPr>
              <a:spcBef>
                <a:spcPts val="1600"/>
              </a:spcBef>
              <a:defRPr sz="1500" b="1">
                <a:solidFill>
                  <a:srgbClr val="F8FAFC"/>
                </a:solidFill>
              </a:defRPr>
            </a:pPr>
            <a:r>
              <a:t>•  Docker &amp; Docker Compose: </a:t>
            </a:r>
            <a:r>
              <a:rPr b="0">
                <a:solidFill>
                  <a:srgbClr val="94A3B8"/>
                </a:solidFill>
              </a:rPr>
              <a:t>Multi-container orchestration linking official MySQL 8.0 with the Flask application via docker-compose.yml.</a:t>
            </a:r>
          </a:p>
          <a:p>
            <a:pPr>
              <a:spcBef>
                <a:spcPts val="1600"/>
              </a:spcBef>
              <a:defRPr sz="1500" b="1">
                <a:solidFill>
                  <a:srgbClr val="F8FAFC"/>
                </a:solidFill>
              </a:defRPr>
            </a:pPr>
            <a:r>
              <a:t>•  CI/CD Automation (.github/workflows/ci.yml): </a:t>
            </a:r>
            <a:r>
              <a:rPr b="0">
                <a:solidFill>
                  <a:srgbClr val="94A3B8"/>
                </a:solidFill>
              </a:rPr>
              <a:t>GitHub Actions pipeline executing automated test validation across Python 3.11 and 3.12 on every push.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CUSTOMER CHURN PREDICTION SYSTEM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Summary &amp; Project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500" b="1">
                <a:solidFill>
                  <a:srgbClr val="F8FAFC"/>
                </a:solidFill>
              </a:defRPr>
            </a:pPr>
            <a:r>
              <a:t>•  Exceeded Performance Goals: </a:t>
            </a:r>
            <a:r>
              <a:rPr b="0">
                <a:solidFill>
                  <a:srgbClr val="94A3B8"/>
                </a:solidFill>
              </a:rPr>
              <a:t>Gradient Boosting champion achieved 0.8441 ROC-AUC and ~70% recall at tuned threshold (exceeding targets).</a:t>
            </a:r>
          </a:p>
          <a:p>
            <a:pPr>
              <a:spcBef>
                <a:spcPts val="1600"/>
              </a:spcBef>
              <a:defRPr sz="1500" b="1">
                <a:solidFill>
                  <a:srgbClr val="F8FAFC"/>
                </a:solidFill>
              </a:defRPr>
            </a:pPr>
            <a:r>
              <a:t>•  Commercial Business Translation: </a:t>
            </a:r>
            <a:r>
              <a:rPr b="0">
                <a:solidFill>
                  <a:srgbClr val="94A3B8"/>
                </a:solidFill>
              </a:rPr>
              <a:t>Incorporated ARR at risk, prescriptive retention actions, and batch portfolio scoring.</a:t>
            </a:r>
          </a:p>
          <a:p>
            <a:pPr>
              <a:spcBef>
                <a:spcPts val="1600"/>
              </a:spcBef>
              <a:defRPr sz="1500" b="1">
                <a:solidFill>
                  <a:srgbClr val="F8FAFC"/>
                </a:solidFill>
              </a:defRPr>
            </a:pPr>
            <a:r>
              <a:t>•  Engineering Rigor: </a:t>
            </a:r>
            <a:r>
              <a:rPr b="0">
                <a:solidFill>
                  <a:srgbClr val="94A3B8"/>
                </a:solidFill>
              </a:rPr>
              <a:t>Production-ready Flask service, MySQL/SQLite fault tolerance, Docker containerization, and 100% test coverage.</a:t>
            </a:r>
          </a:p>
          <a:p>
            <a:pPr>
              <a:spcBef>
                <a:spcPts val="1600"/>
              </a:spcBef>
              <a:defRPr sz="1500" b="1">
                <a:solidFill>
                  <a:srgbClr val="F8FAFC"/>
                </a:solidFill>
              </a:defRPr>
            </a:pPr>
            <a:r>
              <a:t>•  Public Codebase: </a:t>
            </a:r>
            <a:r>
              <a:rPr b="0">
                <a:solidFill>
                  <a:srgbClr val="94A3B8"/>
                </a:solidFill>
              </a:rPr>
              <a:t>Available on GitHub: https://github.com/pateldhiru805-ai/Customer_Churn_prediction_System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