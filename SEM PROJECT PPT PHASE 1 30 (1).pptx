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0"/>
  </p:notesMasterIdLst>
  <p:sldIdLst>
    <p:sldId id="273" r:id="rId2"/>
    <p:sldId id="257" r:id="rId3"/>
    <p:sldId id="259" r:id="rId4"/>
    <p:sldId id="278" r:id="rId5"/>
    <p:sldId id="260" r:id="rId6"/>
    <p:sldId id="261" r:id="rId7"/>
    <p:sldId id="262" r:id="rId8"/>
    <p:sldId id="263" r:id="rId9"/>
    <p:sldId id="265" r:id="rId10"/>
    <p:sldId id="279" r:id="rId11"/>
    <p:sldId id="276" r:id="rId12"/>
    <p:sldId id="267" r:id="rId13"/>
    <p:sldId id="268" r:id="rId14"/>
    <p:sldId id="269" r:id="rId15"/>
    <p:sldId id="280" r:id="rId16"/>
    <p:sldId id="266" r:id="rId17"/>
    <p:sldId id="275" r:id="rId18"/>
    <p:sldId id="277" r:id="rId1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082F71-FF58-474D-8F48-B218CFB7A2DB}" v="9" dt="2026-09-11T16:41:08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0D6F-2E97-4058-9836-8441610350C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D06A5-5C97-424D-B2C7-FC2ADC0B8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ED06A5-5C97-424D-B2C7-FC2ADC0B896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16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ED06A5-5C97-424D-B2C7-FC2ADC0B896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2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A5B62-CE33-4ED6-961D-87AE071A8454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58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0504-D7E0-4B56-A760-EE7400E0860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7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36E61-DE9F-4C46-B5B5-710E8ED4FF81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0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6EC7-683F-4F45-8385-127AD9E4E214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9B22-BA21-4918-BBDD-E0B58C865319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0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E73E1-B966-4990-8317-9AC39BB49D85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E1B40-5267-4F0F-97E2-E53CEA039BD5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15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34A61-A32B-4267-9581-7FD29492C239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9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B72BE-BC40-4302-A2EC-F98E3747AC2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3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3A60E-7AE3-4EC6-9F09-C48588BA334A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2D09E-DC47-41A4-8821-31BEC3D4C67F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F6381-CED6-4522-8B1F-E1927D02ABAF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Title of Project: Customer Churn Prediction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4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" TargetMode="External"/><Relationship Id="rId7" Type="http://schemas.openxmlformats.org/officeDocument/2006/relationships/hyperlink" Target="https://numpy.org/doc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ndas.pydata.org/docs/" TargetMode="External"/><Relationship Id="rId5" Type="http://schemas.openxmlformats.org/officeDocument/2006/relationships/hyperlink" Target="https://docs.python.org/3/" TargetMode="External"/><Relationship Id="rId4" Type="http://schemas.openxmlformats.org/officeDocument/2006/relationships/hyperlink" Target="https://www.kaggle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073" y="99117"/>
            <a:ext cx="11662756" cy="3009842"/>
          </a:xfrm>
        </p:spPr>
        <p:txBody>
          <a:bodyPr>
            <a:normAutofit fontScale="90000"/>
          </a:bodyPr>
          <a:lstStyle/>
          <a:p>
            <a:pPr lvl="0" indent="457200" algn="ctr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  <a:t>Semester Project – I</a:t>
            </a: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  <a:t>“Customer Churn Prediction System”</a:t>
            </a:r>
            <a:br>
              <a:rPr lang="en-US" sz="2800" b="1" dirty="0">
                <a:solidFill>
                  <a:srgbClr val="993300"/>
                </a:solidFill>
                <a:latin typeface="Cambria" panose="02040503050406030204" pitchFamily="18" charset="0"/>
              </a:rPr>
            </a:b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By</a:t>
            </a:r>
            <a:b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Dhiraj Sunil Mahajan (251108029 &amp; AD026)</a:t>
            </a:r>
            <a:b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Mohit Shankar Zope (251108083  &amp; AD069)</a:t>
            </a:r>
            <a:b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Hemant Sandip Fegade (251108090 &amp; AD075)</a:t>
            </a:r>
            <a:b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Mayur Arun Mahajan (251108097 &amp; AD081)</a:t>
            </a:r>
            <a:br>
              <a:rPr lang="en-US" sz="1800" b="1" dirty="0">
                <a:solidFill>
                  <a:srgbClr val="80000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</a:br>
            <a:br>
              <a:rPr lang="en-US" sz="1800" dirty="0"/>
            </a:br>
            <a:r>
              <a:rPr lang="en-US" sz="2200" b="1" dirty="0">
                <a:latin typeface="Cambria" panose="02040503050406030204" pitchFamily="18" charset="0"/>
                <a:ea typeface="Times New Roman" panose="02020603050405020304" pitchFamily="18" charset="0"/>
              </a:rPr>
              <a:t>Under the Guidance of </a:t>
            </a:r>
            <a:br>
              <a:rPr lang="en-US" sz="2200" dirty="0"/>
            </a:br>
            <a:r>
              <a:rPr lang="en-US" sz="2200" b="1" dirty="0">
                <a:latin typeface="Cambria" panose="02040503050406030204" pitchFamily="18" charset="0"/>
                <a:ea typeface="Times New Roman" panose="02020603050405020304" pitchFamily="18" charset="0"/>
              </a:rPr>
              <a:t>Prof. </a:t>
            </a:r>
            <a:r>
              <a:rPr lang="en-US" sz="2200" b="1" dirty="0" err="1">
                <a:latin typeface="Cambria" panose="02040503050406030204" pitchFamily="18" charset="0"/>
                <a:ea typeface="Times New Roman" panose="02020603050405020304" pitchFamily="18" charset="0"/>
              </a:rPr>
              <a:t>Sandip</a:t>
            </a:r>
            <a:r>
              <a:rPr lang="en-US" sz="2200" b="1" dirty="0">
                <a:latin typeface="Cambria" panose="02040503050406030204" pitchFamily="18" charset="0"/>
                <a:ea typeface="Times New Roman" panose="02020603050405020304" pitchFamily="18" charset="0"/>
              </a:rPr>
              <a:t> S. Hire</a:t>
            </a:r>
            <a:br>
              <a:rPr lang="en-US" sz="2200" b="1" dirty="0">
                <a:solidFill>
                  <a:srgbClr val="993300"/>
                </a:solidFill>
                <a:latin typeface="Ajile"/>
              </a:rPr>
            </a:b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5320780"/>
            <a:ext cx="11662756" cy="1345716"/>
          </a:xfrm>
        </p:spPr>
        <p:txBody>
          <a:bodyPr>
            <a:norm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Department of Artificial Intelligence and Data Science</a:t>
            </a:r>
            <a:endParaRPr lang="en-US" sz="1900" b="1" dirty="0">
              <a:solidFill>
                <a:srgbClr val="993300"/>
              </a:solidFill>
              <a:latin typeface="Ajile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</a:t>
            </a:r>
            <a:r>
              <a:rPr lang="en-US" sz="1900" b="1" dirty="0" err="1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Shirpur</a:t>
            </a: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Education Society’s</a:t>
            </a:r>
            <a:endParaRPr lang="en-US" sz="1900" dirty="0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</a:t>
            </a:r>
            <a:r>
              <a:rPr lang="en-US" sz="1900" b="1" dirty="0" err="1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Shirpur</a:t>
            </a: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- 425405.</a:t>
            </a:r>
            <a:endParaRPr lang="en-US" sz="1900" dirty="0"/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b="1" dirty="0">
                <a:solidFill>
                  <a:srgbClr val="00000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[2026-27]</a:t>
            </a:r>
            <a:r>
              <a:rPr lang="en-US" sz="1900" b="1" dirty="0">
                <a:solidFill>
                  <a:srgbClr val="000080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lang="en-US" sz="1900" dirty="0">
              <a:latin typeface="Arial" panose="020B0604020202020204" pitchFamily="34" charset="0"/>
            </a:endParaRPr>
          </a:p>
        </p:txBody>
      </p:sp>
      <p:pic>
        <p:nvPicPr>
          <p:cNvPr id="4" name="Picture 1" descr="SE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24" y="3190830"/>
            <a:ext cx="2382836" cy="177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DAF2C-A02C-FC76-7F27-69E3354E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77E5-94C2-4AC9-B2C3-44BBBBB74020}" type="datetime1">
              <a:rPr lang="en-US" smtClean="0"/>
              <a:t>9/11/2026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8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013465" y="-5362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3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1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431030" y="1435911"/>
            <a:ext cx="6454009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Team 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2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A0FAA-47C3-A87E-A269-001CB95D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6125-A369-413E-BB72-EAC0B86D413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B6A1A4B-12D6-66EA-7AFA-5CA66A88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EFB48F-34EB-1D2F-E555-8D3D45DE3901}"/>
              </a:ext>
            </a:extLst>
          </p:cNvPr>
          <p:cNvSpPr txBox="1"/>
          <p:nvPr/>
        </p:nvSpPr>
        <p:spPr>
          <a:xfrm>
            <a:off x="5922819" y="1456936"/>
            <a:ext cx="609600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 Timeline / Gantt Chart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Dataset &amp; Data Collection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Data Preprocessing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13. Exploratory Data Analysis (EDA)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14. Future Scope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15. Conclusion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" panose="02020603050405020304" pitchFamily="18" charset="0"/>
                <a:cs typeface="Times" panose="02020603050405020304" pitchFamily="18" charset="0"/>
              </a:rPr>
              <a:t>16. Reference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93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D249E5B-46B7-B1C5-36DF-5B9FD6BA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898" y="117504"/>
            <a:ext cx="10515600" cy="1325563"/>
          </a:xfrm>
        </p:spPr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  <a:endParaRPr lang="en-US" sz="4000" b="1" u="sng" dirty="0"/>
          </a:p>
        </p:txBody>
      </p:sp>
      <p:sp>
        <p:nvSpPr>
          <p:cNvPr id="16" name="Parallelogram 6">
            <a:extLst>
              <a:ext uri="{FF2B5EF4-FFF2-40B4-BE49-F238E27FC236}">
                <a16:creationId xmlns:a16="http://schemas.microsoft.com/office/drawing/2014/main" id="{827D1C2A-E6A5-8495-3EB2-45CBBE3A67BF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rallelogram 6">
            <a:extLst>
              <a:ext uri="{FF2B5EF4-FFF2-40B4-BE49-F238E27FC236}">
                <a16:creationId xmlns:a16="http://schemas.microsoft.com/office/drawing/2014/main" id="{016749DD-0F72-870D-8474-F5EE7CC09822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FD6E253-7710-079A-A135-2C0859BB5181}"/>
              </a:ext>
            </a:extLst>
          </p:cNvPr>
          <p:cNvGrpSpPr/>
          <p:nvPr/>
        </p:nvGrpSpPr>
        <p:grpSpPr>
          <a:xfrm>
            <a:off x="11013465" y="0"/>
            <a:ext cx="1180119" cy="1304651"/>
            <a:chOff x="5449281" y="2761932"/>
            <a:chExt cx="1289974" cy="1334135"/>
          </a:xfrm>
        </p:grpSpPr>
        <p:sp>
          <p:nvSpPr>
            <p:cNvPr id="21" name="Shape 454">
              <a:extLst>
                <a:ext uri="{FF2B5EF4-FFF2-40B4-BE49-F238E27FC236}">
                  <a16:creationId xmlns:a16="http://schemas.microsoft.com/office/drawing/2014/main" id="{894CA06C-01BE-8A19-2458-F460B7AA34A1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A274709-D21D-F4ED-507B-0BB73266B336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5027AE5D-6DD4-8302-297E-C6F948E1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4E2A06E-FD01-4319-9BA2-A5A831CBF123}" type="slidenum">
              <a:rPr lang="en-US" smtClean="0"/>
              <a:t>3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FCE316-6A75-1383-D0A2-C96A6BD5CC97}"/>
              </a:ext>
            </a:extLst>
          </p:cNvPr>
          <p:cNvSpPr txBox="1"/>
          <p:nvPr/>
        </p:nvSpPr>
        <p:spPr>
          <a:xfrm>
            <a:off x="508568" y="1755871"/>
            <a:ext cx="9834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Data Science &amp; Machine Learning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55A494-69B1-6525-95F4-8F2385195AEE}"/>
              </a:ext>
            </a:extLst>
          </p:cNvPr>
          <p:cNvSpPr txBox="1"/>
          <p:nvPr/>
        </p:nvSpPr>
        <p:spPr>
          <a:xfrm>
            <a:off x="508568" y="2594943"/>
            <a:ext cx="9039903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companies generate large amounts of customer data such as recharge history, call usage, internet usage, plan details, complaints and customer tenure.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this historical data to identify customers who are likely to stop using a SIM service.</a:t>
            </a:r>
          </a:p>
        </p:txBody>
      </p:sp>
    </p:spTree>
    <p:extLst>
      <p:ext uri="{BB962C8B-B14F-4D97-AF65-F5344CB8AC3E}">
        <p14:creationId xmlns:p14="http://schemas.microsoft.com/office/powerpoint/2010/main" val="27648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AE3B4B-B23B-1641-ACA3-4B84A1830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4361"/>
            <a:ext cx="10515600" cy="297066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face high customer competition.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Losing existing customers affects revenue.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churn allows companies to take preventive action.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identify hidden patterns in customer behavior.</a:t>
            </a: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5E7FD7-957E-9825-797E-E4687CF2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4E2A06E-FD01-4319-9BA2-A5A831CBF123}" type="slidenum">
              <a:rPr lang="en-US" smtClean="0"/>
              <a:t>4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A03235B7-AE74-AA3C-BCF2-9BA428B610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0387" y="1559108"/>
            <a:ext cx="801681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0" indent="-457200"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3600" b="1" u="sng" dirty="0">
                <a:solidFill>
                  <a:srgbClr val="C00000"/>
                </a:solidFill>
              </a:rPr>
              <a:t> </a:t>
            </a:r>
            <a:r>
              <a:rPr lang="en-US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domain?</a:t>
            </a:r>
          </a:p>
        </p:txBody>
      </p:sp>
      <p:sp>
        <p:nvSpPr>
          <p:cNvPr id="10" name="Parallelogram 6">
            <a:extLst>
              <a:ext uri="{FF2B5EF4-FFF2-40B4-BE49-F238E27FC236}">
                <a16:creationId xmlns:a16="http://schemas.microsoft.com/office/drawing/2014/main" id="{59FB7EE8-AECD-61E0-1F55-D32249F5FA23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6">
            <a:extLst>
              <a:ext uri="{FF2B5EF4-FFF2-40B4-BE49-F238E27FC236}">
                <a16:creationId xmlns:a16="http://schemas.microsoft.com/office/drawing/2014/main" id="{46CB8ED5-3E09-31E1-3EAA-4AE8DA0A6EC9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5073DE-EB80-3B7E-8ECA-4A65C9473C9B}"/>
              </a:ext>
            </a:extLst>
          </p:cNvPr>
          <p:cNvGrpSpPr/>
          <p:nvPr/>
        </p:nvGrpSpPr>
        <p:grpSpPr>
          <a:xfrm>
            <a:off x="11013465" y="0"/>
            <a:ext cx="1180119" cy="1304651"/>
            <a:chOff x="5449281" y="2761932"/>
            <a:chExt cx="1289974" cy="1334135"/>
          </a:xfrm>
        </p:grpSpPr>
        <p:sp>
          <p:nvSpPr>
            <p:cNvPr id="13" name="Shape 454">
              <a:extLst>
                <a:ext uri="{FF2B5EF4-FFF2-40B4-BE49-F238E27FC236}">
                  <a16:creationId xmlns:a16="http://schemas.microsoft.com/office/drawing/2014/main" id="{F68A4411-B400-EFA4-6324-61A1CDC2491A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9FC2423-F106-2523-C916-D4F259B2181E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9EEFB5-C26C-5049-F366-57AF0E87CB84}"/>
              </a:ext>
            </a:extLst>
          </p:cNvPr>
          <p:cNvSpPr txBox="1"/>
          <p:nvPr/>
        </p:nvSpPr>
        <p:spPr>
          <a:xfrm>
            <a:off x="3948021" y="298382"/>
            <a:ext cx="61290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Overview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776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772808" y="-21603"/>
            <a:ext cx="1419192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5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B6D636-BCFA-AD9E-A0DF-2BA03DB761C4}"/>
              </a:ext>
            </a:extLst>
          </p:cNvPr>
          <p:cNvSpPr txBox="1"/>
          <p:nvPr/>
        </p:nvSpPr>
        <p:spPr>
          <a:xfrm>
            <a:off x="3501080" y="531440"/>
            <a:ext cx="5494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CDBEDD-7A34-0593-F53D-39579B9C803E}"/>
              </a:ext>
            </a:extLst>
          </p:cNvPr>
          <p:cNvSpPr/>
          <p:nvPr/>
        </p:nvSpPr>
        <p:spPr>
          <a:xfrm>
            <a:off x="444844" y="1944756"/>
            <a:ext cx="4893275" cy="40530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25D8A-A95C-CE9C-A87D-AECBBF0A86E4}"/>
              </a:ext>
            </a:extLst>
          </p:cNvPr>
          <p:cNvSpPr/>
          <p:nvPr/>
        </p:nvSpPr>
        <p:spPr>
          <a:xfrm>
            <a:off x="6568052" y="1944756"/>
            <a:ext cx="5074508" cy="40851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9298C1-E63D-FD4E-CE8E-18DD6BB3FF71}"/>
              </a:ext>
            </a:extLst>
          </p:cNvPr>
          <p:cNvSpPr txBox="1"/>
          <p:nvPr/>
        </p:nvSpPr>
        <p:spPr>
          <a:xfrm>
            <a:off x="588475" y="2098613"/>
            <a:ext cx="420379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C00000"/>
                </a:solidFill>
              </a:rPr>
              <a:t>Current Problem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Telecom companies cannot easily identify which SIM users may leave their network.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Customers may switch due to high prices, poor network quality, limited offers, or bad service.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Losing customers causes revenue loss and increases the cost of getting new customers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3586FC-2619-3986-1D2E-EEA053247B8D}"/>
              </a:ext>
            </a:extLst>
          </p:cNvPr>
          <p:cNvSpPr txBox="1"/>
          <p:nvPr/>
        </p:nvSpPr>
        <p:spPr>
          <a:xfrm>
            <a:off x="6686630" y="2098613"/>
            <a:ext cx="506052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C00000"/>
                </a:solidFill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Develop a Customer Churn Prediction System using customer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system analyzes factors such as usage, recharge history, complaints, and service plans.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It predicts customers who are likely to leave.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The company can then provide better offers, discounts, or improved services to retain them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1FE11-98EB-4983-3FDB-671CDD32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654CE-C6B8-43F2-809A-6226B48FA81B}" type="datetime1">
              <a:rPr lang="en-US" smtClean="0"/>
              <a:t>9/11/2026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AA3ACFC-C8BB-1798-3B99-F3BFA18E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244158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988114" y="25551"/>
            <a:ext cx="1203886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2F6F45-0571-501F-9196-B32C87C3F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558150"/>
              </p:ext>
            </p:extLst>
          </p:nvPr>
        </p:nvGraphicFramePr>
        <p:xfrm>
          <a:off x="1176950" y="1202641"/>
          <a:ext cx="9988355" cy="4332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088">
                  <a:extLst>
                    <a:ext uri="{9D8B030D-6E8A-4147-A177-3AD203B41FA5}">
                      <a16:colId xmlns:a16="http://schemas.microsoft.com/office/drawing/2014/main" val="1287512879"/>
                    </a:ext>
                  </a:extLst>
                </a:gridCol>
                <a:gridCol w="2497089">
                  <a:extLst>
                    <a:ext uri="{9D8B030D-6E8A-4147-A177-3AD203B41FA5}">
                      <a16:colId xmlns:a16="http://schemas.microsoft.com/office/drawing/2014/main" val="4075546138"/>
                    </a:ext>
                  </a:extLst>
                </a:gridCol>
                <a:gridCol w="2497089">
                  <a:extLst>
                    <a:ext uri="{9D8B030D-6E8A-4147-A177-3AD203B41FA5}">
                      <a16:colId xmlns:a16="http://schemas.microsoft.com/office/drawing/2014/main" val="1735848693"/>
                    </a:ext>
                  </a:extLst>
                </a:gridCol>
                <a:gridCol w="2497089">
                  <a:extLst>
                    <a:ext uri="{9D8B030D-6E8A-4147-A177-3AD203B41FA5}">
                      <a16:colId xmlns:a16="http://schemas.microsoft.com/office/drawing/2014/main" val="4168820807"/>
                    </a:ext>
                  </a:extLst>
                </a:gridCol>
              </a:tblGrid>
              <a:tr h="43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Study/Approach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Dataset/Domain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 Finding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344756"/>
                  </a:ext>
                </a:extLst>
              </a:tr>
              <a:tr h="754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Telecom churn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Telecom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behavior can predict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577496"/>
                  </a:ext>
                </a:extLst>
              </a:tr>
              <a:tr h="1077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ML-based churn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Telecom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Important customer features can be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889531"/>
                  </a:ext>
                </a:extLst>
              </a:tr>
              <a:tr h="99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Ensemble-based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Telecom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Improved prediction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957170"/>
                  </a:ext>
                </a:extLst>
              </a:tr>
              <a:tr h="1076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behavior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Telecom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Classification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Usage and service factors influence churn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44091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88F4FA0-890E-C99B-5123-1BD8EF310D16}"/>
              </a:ext>
            </a:extLst>
          </p:cNvPr>
          <p:cNvSpPr txBox="1"/>
          <p:nvPr/>
        </p:nvSpPr>
        <p:spPr>
          <a:xfrm>
            <a:off x="2057400" y="3547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3902648-CF55-8B93-9953-92E80BCC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A2885-4B7A-4690-8FEB-72E641BDE692}" type="datetime1">
              <a:rPr lang="en-US" smtClean="0"/>
              <a:t>9/11/2026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2A0F323-39B9-0DA9-5C8C-99657AAE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402276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996507" y="0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43B1A3-F07E-548E-2D7A-A8E1D0888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450577"/>
              </p:ext>
            </p:extLst>
          </p:nvPr>
        </p:nvGraphicFramePr>
        <p:xfrm>
          <a:off x="1614237" y="1156627"/>
          <a:ext cx="9074544" cy="4740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24848">
                  <a:extLst>
                    <a:ext uri="{9D8B030D-6E8A-4147-A177-3AD203B41FA5}">
                      <a16:colId xmlns:a16="http://schemas.microsoft.com/office/drawing/2014/main" val="2819332146"/>
                    </a:ext>
                  </a:extLst>
                </a:gridCol>
                <a:gridCol w="3024848">
                  <a:extLst>
                    <a:ext uri="{9D8B030D-6E8A-4147-A177-3AD203B41FA5}">
                      <a16:colId xmlns:a16="http://schemas.microsoft.com/office/drawing/2014/main" val="3786578107"/>
                    </a:ext>
                  </a:extLst>
                </a:gridCol>
                <a:gridCol w="3024848">
                  <a:extLst>
                    <a:ext uri="{9D8B030D-6E8A-4147-A177-3AD203B41FA5}">
                      <a16:colId xmlns:a16="http://schemas.microsoft.com/office/drawing/2014/main" val="2399095091"/>
                    </a:ext>
                  </a:extLst>
                </a:gridCol>
              </a:tblGrid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Traditional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594707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Manual/limited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144430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Churn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After customer 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Before customer leaves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408234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ML-based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388786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Risk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Low/Medium/High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666535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466734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152332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218736"/>
                  </a:ext>
                </a:extLst>
              </a:tr>
              <a:tr h="526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79823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822B035-5A5E-FFCF-6FC3-FD29E9A1DE66}"/>
              </a:ext>
            </a:extLst>
          </p:cNvPr>
          <p:cNvSpPr txBox="1"/>
          <p:nvPr/>
        </p:nvSpPr>
        <p:spPr>
          <a:xfrm>
            <a:off x="2764590" y="48267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47E7412-BDF8-0AE7-9DA8-8B5894EF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DFF0-5156-4AE8-A457-758073E76E36}" type="datetime1">
              <a:rPr lang="en-US" smtClean="0"/>
              <a:t>9/11/2026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916AB35-4864-2BB8-FB3E-C6115D07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3470229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2FBD2B9-D644-D6FE-C398-DA3D02AB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6237" y="1799361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18" name="Parallelogram 6">
            <a:extLst>
              <a:ext uri="{FF2B5EF4-FFF2-40B4-BE49-F238E27FC236}">
                <a16:creationId xmlns:a16="http://schemas.microsoft.com/office/drawing/2014/main" id="{CCAF9417-5F2E-1B30-E37B-B8DFC5708DEB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6">
            <a:extLst>
              <a:ext uri="{FF2B5EF4-FFF2-40B4-BE49-F238E27FC236}">
                <a16:creationId xmlns:a16="http://schemas.microsoft.com/office/drawing/2014/main" id="{7E46121D-90B5-E12E-6E02-5F71602BEA2E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01F4A5-9AED-CEBB-6E13-A06B80CCEF67}"/>
              </a:ext>
            </a:extLst>
          </p:cNvPr>
          <p:cNvGrpSpPr/>
          <p:nvPr/>
        </p:nvGrpSpPr>
        <p:grpSpPr>
          <a:xfrm>
            <a:off x="10795247" y="-48059"/>
            <a:ext cx="1396753" cy="1304651"/>
            <a:chOff x="5449281" y="2761932"/>
            <a:chExt cx="1289974" cy="1334135"/>
          </a:xfrm>
        </p:grpSpPr>
        <p:sp>
          <p:nvSpPr>
            <p:cNvPr id="21" name="Shape 454">
              <a:extLst>
                <a:ext uri="{FF2B5EF4-FFF2-40B4-BE49-F238E27FC236}">
                  <a16:creationId xmlns:a16="http://schemas.microsoft.com/office/drawing/2014/main" id="{0C2BDD68-6893-B488-1B13-4A347FBAA1E3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3C5BF70-1170-29CF-8112-7570FB9A4B2E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8148ED8E-8432-8E82-178F-740BA88F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4E2A06E-FD01-4319-9BA2-A5A831CBF123}" type="slidenum">
              <a:rPr lang="en-US" smtClean="0"/>
              <a:t>8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7648B0-BB6D-9C10-2385-6F9239C59A67}"/>
              </a:ext>
            </a:extLst>
          </p:cNvPr>
          <p:cNvSpPr/>
          <p:nvPr/>
        </p:nvSpPr>
        <p:spPr>
          <a:xfrm>
            <a:off x="2088572" y="511796"/>
            <a:ext cx="7472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IN" sz="3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E8CA840-7864-0013-C86D-CAEE6EA8E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20" y="1372877"/>
            <a:ext cx="10152560" cy="433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1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013465" y="0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291261"/>
              </p:ext>
            </p:extLst>
          </p:nvPr>
        </p:nvGraphicFramePr>
        <p:xfrm>
          <a:off x="1460500" y="1146386"/>
          <a:ext cx="6197600" cy="487341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98800">
                  <a:extLst>
                    <a:ext uri="{9D8B030D-6E8A-4147-A177-3AD203B41FA5}">
                      <a16:colId xmlns:a16="http://schemas.microsoft.com/office/drawing/2014/main" val="2450559334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474105299"/>
                    </a:ext>
                  </a:extLst>
                </a:gridCol>
              </a:tblGrid>
              <a:tr h="487341">
                <a:tc>
                  <a:txBody>
                    <a:bodyPr/>
                    <a:lstStyle/>
                    <a:p>
                      <a:r>
                        <a:rPr lang="en-IN" dirty="0"/>
                        <a:t>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427251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203420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1973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Matplotlib, Seaborn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93020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456674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501212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056675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HTML, CSS, 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171574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VS Code / Jupyter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0709423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CSV / Telecom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45545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53292" y="453746"/>
            <a:ext cx="89133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lang="en-IN" b="1" u="sng" dirty="0">
                <a:solidFill>
                  <a:srgbClr val="FF0000"/>
                </a:solidFill>
              </a:rPr>
              <a:t>Software Requirements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A0B3984-7E10-FD00-01B3-D50B0B25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37112-0EB2-4422-8459-209267B4AE99}" type="datetime1">
              <a:rPr lang="en-US" smtClean="0"/>
              <a:t>9/11/2026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5DD4170-B6CD-18DE-5912-3A25BB8C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409427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F56255A-1986-4370-4B4D-E70AD41569F0}"/>
              </a:ext>
            </a:extLst>
          </p:cNvPr>
          <p:cNvSpPr/>
          <p:nvPr/>
        </p:nvSpPr>
        <p:spPr>
          <a:xfrm>
            <a:off x="716309" y="1304651"/>
            <a:ext cx="6460867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400" b="1" u="sng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Laptop/Desktop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Minimum 4 GB RAM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Recommended 8 GB+ RAM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Intel i3/</a:t>
            </a:r>
            <a:r>
              <a:rPr lang="en-IN" sz="2400" dirty="0" err="1"/>
              <a:t>Ryzen</a:t>
            </a:r>
            <a:r>
              <a:rPr lang="en-IN" sz="2400" dirty="0"/>
              <a:t> 3 or better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Minimum 10 GB free storage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Internet connection for development/research </a:t>
            </a:r>
          </a:p>
        </p:txBody>
      </p:sp>
      <p:sp>
        <p:nvSpPr>
          <p:cNvPr id="9" name="Parallelogram 6">
            <a:extLst>
              <a:ext uri="{FF2B5EF4-FFF2-40B4-BE49-F238E27FC236}">
                <a16:creationId xmlns:a16="http://schemas.microsoft.com/office/drawing/2014/main" id="{737FAF46-FBD5-1CC0-C875-8AB6CC2260A9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6">
            <a:extLst>
              <a:ext uri="{FF2B5EF4-FFF2-40B4-BE49-F238E27FC236}">
                <a16:creationId xmlns:a16="http://schemas.microsoft.com/office/drawing/2014/main" id="{9AE72FE6-7BB0-69E6-F428-33BEC0877A3F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0E2FEB-D1E7-DE53-1873-7F8D8B428B02}"/>
              </a:ext>
            </a:extLst>
          </p:cNvPr>
          <p:cNvGrpSpPr/>
          <p:nvPr/>
        </p:nvGrpSpPr>
        <p:grpSpPr>
          <a:xfrm>
            <a:off x="11013465" y="0"/>
            <a:ext cx="1180119" cy="1304651"/>
            <a:chOff x="5449281" y="2761932"/>
            <a:chExt cx="1289974" cy="1334135"/>
          </a:xfrm>
        </p:grpSpPr>
        <p:sp>
          <p:nvSpPr>
            <p:cNvPr id="12" name="Shape 454">
              <a:extLst>
                <a:ext uri="{FF2B5EF4-FFF2-40B4-BE49-F238E27FC236}">
                  <a16:creationId xmlns:a16="http://schemas.microsoft.com/office/drawing/2014/main" id="{89D1B0DE-20E0-C858-A4AC-1D42EA63351E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71B0405-AEB7-B200-7478-C2FA7D3CD9EE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73AD46B-0EC8-467F-00FA-D148C9D4DDD7}"/>
              </a:ext>
            </a:extLst>
          </p:cNvPr>
          <p:cNvSpPr/>
          <p:nvPr/>
        </p:nvSpPr>
        <p:spPr>
          <a:xfrm>
            <a:off x="353292" y="453746"/>
            <a:ext cx="89133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  <a:defRPr sz="3000" b="0">
                <a:solidFill>
                  <a:srgbClr val="000000"/>
                </a:solidFill>
                <a:latin typeface="Times New Roman"/>
              </a:defRPr>
            </a:pPr>
            <a:r>
              <a:rPr lang="en-IN" sz="3600" b="1" u="sng" dirty="0">
                <a:solidFill>
                  <a:srgbClr val="FF0000"/>
                </a:solidFill>
              </a:rPr>
              <a:t>Hardware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3580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6304"/>
            <a:ext cx="12191999" cy="146304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999" cy="146304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 rot="5400000">
            <a:off x="11658600" y="146304"/>
            <a:ext cx="530352" cy="310896"/>
          </a:xfrm>
          <a:prstGeom prst="triangle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 rot="16200000">
            <a:off x="0" y="6519672"/>
            <a:ext cx="530352" cy="310896"/>
          </a:xfrm>
          <a:prstGeom prst="triangle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6713" y="610193"/>
            <a:ext cx="4669869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q"/>
              <a:defRPr sz="2700" b="1">
                <a:solidFill>
                  <a:srgbClr val="191919"/>
                </a:solidFill>
                <a:latin typeface="Georgia"/>
              </a:defRPr>
            </a:pPr>
            <a:r>
              <a:rPr u="sng" dirty="0">
                <a:solidFill>
                  <a:srgbClr val="FF0000"/>
                </a:solidFill>
              </a:rPr>
              <a:t>Timeline / Gantt 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848" y="1143000"/>
            <a:ext cx="9646920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✓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866848" y="1143000"/>
            <a:ext cx="9646920" cy="475488"/>
          </a:xfrm>
          <a:prstGeom prst="rect">
            <a:avLst/>
          </a:prstGeom>
          <a:solidFill>
            <a:srgbClr val="E7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985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29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73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17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61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05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49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993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13768" y="1143000"/>
            <a:ext cx="10972" cy="5404104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8288" y="1170432"/>
            <a:ext cx="2148839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1">
                <a:solidFill>
                  <a:srgbClr val="18304E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85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W1</a:t>
            </a:r>
            <a:br/>
            <a:r>
              <a:t>17/08/26 to</a:t>
            </a:r>
            <a:br/>
            <a:r>
              <a:t>22/08/26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29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W2</a:t>
            </a:r>
            <a:br/>
            <a:r>
              <a:t>23/08/26 to</a:t>
            </a:r>
            <a:br/>
            <a:r>
              <a:t>28/08/26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73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W3</a:t>
            </a:r>
            <a:br/>
            <a:r>
              <a:t>30/08/26 to</a:t>
            </a:r>
            <a:br/>
            <a:r>
              <a:t>5/09/26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17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W4</a:t>
            </a:r>
            <a:br/>
            <a:r>
              <a:t>6/09/26 to</a:t>
            </a:r>
            <a:br/>
            <a:r>
              <a:t>12/09/26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61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05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49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9368" y="1170432"/>
            <a:ext cx="9144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19" b="1">
                <a:solidFill>
                  <a:srgbClr val="18304E"/>
                </a:solidFill>
                <a:latin typeface="Aptos"/>
              </a:defRPr>
            </a:pPr>
            <a:r>
              <a:t>W8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233" y="1618488"/>
            <a:ext cx="9646920" cy="44805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6848" y="1618488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552" y="1627632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0007" y="1696212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0007" y="1691640"/>
            <a:ext cx="731520" cy="292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6848" y="2066544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552" y="2075687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0007" y="2144268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90007" y="2139696"/>
            <a:ext cx="731520" cy="292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4407" y="2144268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4407" y="2139696"/>
            <a:ext cx="731520" cy="292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6848" y="2514600"/>
            <a:ext cx="9646920" cy="44805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6848" y="2514600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24552" y="2523744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4407" y="2592324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04407" y="2587752"/>
            <a:ext cx="731520" cy="292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6848" y="2962656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24552" y="2971800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Dataset Collection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04407" y="3040380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204407" y="3035808"/>
            <a:ext cx="731520" cy="29260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18807" y="3040380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66848" y="3410712"/>
            <a:ext cx="9646920" cy="44805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66848" y="3410712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24552" y="3419856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6848" y="3858768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24552" y="3867912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6848" y="4306824"/>
            <a:ext cx="9646920" cy="44805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66848" y="4306824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24552" y="4315968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8304E"/>
                </a:solidFill>
                <a:latin typeface="Aptos"/>
              </a:defRPr>
            </a:pPr>
            <a:r>
              <a:t>Model Development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947608" y="4384548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862008" y="4384548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66848" y="4754879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24552" y="4764023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Backend Development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62008" y="4832603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776408" y="4832603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66848" y="5202936"/>
            <a:ext cx="9646920" cy="44805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66848" y="5202936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124552" y="5212079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Frontend / Dashboard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76408" y="5280660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690808" y="5280660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66848" y="5650992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24552" y="5660136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90808" y="5728716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66848" y="6099048"/>
            <a:ext cx="9646920" cy="448056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66848" y="6099048"/>
            <a:ext cx="9646920" cy="10972"/>
          </a:xfrm>
          <a:prstGeom prst="rect">
            <a:avLst/>
          </a:prstGeom>
          <a:solidFill>
            <a:srgbClr val="D3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24552" y="6108192"/>
            <a:ext cx="2103120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50" b="1">
                <a:solidFill>
                  <a:srgbClr val="191919"/>
                </a:solidFill>
                <a:latin typeface="Aptos"/>
              </a:defRPr>
            </a:pPr>
            <a:r>
              <a:t>Final Documentation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690808" y="6176772"/>
            <a:ext cx="731520" cy="292607"/>
          </a:xfrm>
          <a:prstGeom prst="roundRect">
            <a:avLst/>
          </a:prstGeom>
          <a:solidFill>
            <a:srgbClr val="4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910010" y="5814468"/>
            <a:ext cx="184730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-138832" y="6124639"/>
            <a:ext cx="1847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0">
                <a:solidFill>
                  <a:srgbClr val="191919"/>
                </a:solidFill>
                <a:latin typeface="Aptos"/>
              </a:defRPr>
            </a:pPr>
            <a:endParaRPr dirty="0"/>
          </a:p>
        </p:txBody>
      </p:sp>
      <p:sp>
        <p:nvSpPr>
          <p:cNvPr id="90" name="TextBox 89"/>
          <p:cNvSpPr txBox="1"/>
          <p:nvPr/>
        </p:nvSpPr>
        <p:spPr>
          <a:xfrm>
            <a:off x="856778" y="5814468"/>
            <a:ext cx="184730" cy="2308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endParaRPr dirty="0"/>
          </a:p>
        </p:txBody>
      </p:sp>
      <p:sp>
        <p:nvSpPr>
          <p:cNvPr id="91" name="TextBox 90"/>
          <p:cNvSpPr txBox="1"/>
          <p:nvPr/>
        </p:nvSpPr>
        <p:spPr>
          <a:xfrm>
            <a:off x="2867125" y="5841607"/>
            <a:ext cx="1473857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191919"/>
                </a:solidFill>
                <a:latin typeface="Aptos"/>
              </a:defRPr>
            </a:pPr>
            <a:endParaRPr dirty="0"/>
          </a:p>
        </p:txBody>
      </p:sp>
      <p:sp>
        <p:nvSpPr>
          <p:cNvPr id="93" name="TextBox 92"/>
          <p:cNvSpPr txBox="1"/>
          <p:nvPr/>
        </p:nvSpPr>
        <p:spPr>
          <a:xfrm>
            <a:off x="2631639" y="5822887"/>
            <a:ext cx="184731" cy="22313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 b="0">
                <a:solidFill>
                  <a:srgbClr val="191919"/>
                </a:solidFill>
                <a:latin typeface="Aptos"/>
              </a:defRPr>
            </a:pPr>
            <a:endParaRPr dirty="0"/>
          </a:p>
        </p:txBody>
      </p:sp>
      <p:sp>
        <p:nvSpPr>
          <p:cNvPr id="94" name="TextBox 93"/>
          <p:cNvSpPr txBox="1"/>
          <p:nvPr/>
        </p:nvSpPr>
        <p:spPr>
          <a:xfrm>
            <a:off x="1124552" y="6373368"/>
            <a:ext cx="2011680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750" b="0">
                <a:solidFill>
                  <a:srgbClr val="191919"/>
                </a:solidFill>
                <a:latin typeface="Aptos"/>
              </a:defRPr>
            </a:pPr>
            <a:r>
              <a:t>12/09/2026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41000" y="632764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0">
                <a:solidFill>
                  <a:srgbClr val="5A5A5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125749" y="3499548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5155881" y="3939301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6033208" y="3939301"/>
            <a:ext cx="731520" cy="292607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/>
              <a:t>✓</a:t>
            </a:r>
            <a:endParaRPr lang="en-IN" dirty="0"/>
          </a:p>
        </p:txBody>
      </p:sp>
      <p:sp>
        <p:nvSpPr>
          <p:cNvPr id="104" name="Rectangle 103"/>
          <p:cNvSpPr/>
          <p:nvPr/>
        </p:nvSpPr>
        <p:spPr>
          <a:xfrm>
            <a:off x="5274255" y="3045638"/>
            <a:ext cx="30970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✓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308054" y="3503438"/>
            <a:ext cx="30970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✓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06430" y="2981054"/>
            <a:ext cx="30970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08054" y="3951384"/>
            <a:ext cx="30970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06430" y="2981054"/>
            <a:ext cx="30970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06430" y="2981054"/>
            <a:ext cx="309700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✓</a:t>
            </a:r>
          </a:p>
        </p:txBody>
      </p: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0482BA3A-4066-9B1B-9E1D-A2D5DB60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281DC-9B21-4636-9DFE-FEA9758C0D4F}" type="datetime1">
              <a:rPr lang="en-US" smtClean="0"/>
              <a:t>9/11/2026</a:t>
            </a:fld>
            <a:endParaRPr lang="en-US"/>
          </a:p>
        </p:txBody>
      </p:sp>
      <p:sp>
        <p:nvSpPr>
          <p:cNvPr id="53" name="Footer Placeholder 52">
            <a:extLst>
              <a:ext uri="{FF2B5EF4-FFF2-40B4-BE49-F238E27FC236}">
                <a16:creationId xmlns:a16="http://schemas.microsoft.com/office/drawing/2014/main" id="{B1062169-2806-64C6-3E42-CCEA473C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DEB214A6-371A-9DCE-B9C0-C2D8F1EFD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11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7FB0D7B-27DD-1350-5CB2-6A773FE932C5}"/>
              </a:ext>
            </a:extLst>
          </p:cNvPr>
          <p:cNvGrpSpPr/>
          <p:nvPr/>
        </p:nvGrpSpPr>
        <p:grpSpPr>
          <a:xfrm>
            <a:off x="10795247" y="-48059"/>
            <a:ext cx="1396753" cy="1304651"/>
            <a:chOff x="5449281" y="2761932"/>
            <a:chExt cx="1289974" cy="1334135"/>
          </a:xfrm>
        </p:grpSpPr>
        <p:sp>
          <p:nvSpPr>
            <p:cNvPr id="58" name="Shape 454">
              <a:extLst>
                <a:ext uri="{FF2B5EF4-FFF2-40B4-BE49-F238E27FC236}">
                  <a16:creationId xmlns:a16="http://schemas.microsoft.com/office/drawing/2014/main" id="{512A43E5-7CDC-C5B8-76B0-CDC01673A1CF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55DAC59-5BB7-62F6-6ABA-78555DABE051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322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011881" y="-47369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CC368-DDB4-57B4-B32C-D70D018D3F4D}"/>
              </a:ext>
            </a:extLst>
          </p:cNvPr>
          <p:cNvSpPr txBox="1"/>
          <p:nvPr/>
        </p:nvSpPr>
        <p:spPr>
          <a:xfrm>
            <a:off x="1500050" y="4099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Data Collection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B03E8-C95A-BA9E-DFB3-3CEE76D491A1}"/>
              </a:ext>
            </a:extLst>
          </p:cNvPr>
          <p:cNvSpPr txBox="1"/>
          <p:nvPr/>
        </p:nvSpPr>
        <p:spPr>
          <a:xfrm>
            <a:off x="448671" y="141679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Dataset 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E9BC9-4ABB-1CDB-471A-2883894BE149}"/>
              </a:ext>
            </a:extLst>
          </p:cNvPr>
          <p:cNvSpPr txBox="1"/>
          <p:nvPr/>
        </p:nvSpPr>
        <p:spPr>
          <a:xfrm>
            <a:off x="448671" y="210015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dataset is a collection of related information used for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rows representing customers and columns representing features.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our project, the data represents SIM/telecom customers.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details, service information and billing behavior.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Churn column is the target variable.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C0B6B5-58E3-D0F2-4B31-A3F5C3D5E228}"/>
              </a:ext>
            </a:extLst>
          </p:cNvPr>
          <p:cNvSpPr txBox="1"/>
          <p:nvPr/>
        </p:nvSpPr>
        <p:spPr>
          <a:xfrm>
            <a:off x="6693908" y="1397841"/>
            <a:ext cx="2992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D3E54-516F-0846-6B66-93072BAC1D73}"/>
              </a:ext>
            </a:extLst>
          </p:cNvPr>
          <p:cNvSpPr txBox="1"/>
          <p:nvPr/>
        </p:nvSpPr>
        <p:spPr>
          <a:xfrm>
            <a:off x="6693908" y="2124863"/>
            <a:ext cx="453056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Age, gender &amp; location.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&amp; Plan: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 type, plan &amp; charges.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Behavior: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calls &amp; SMS usage.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&amp; Payment: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Bills, recharges &amp; payments.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Tenure: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 usage duration.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B4AD9-AEC1-90C7-1CF9-649CCE30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20978-DBD9-4020-B874-B01AEA1BC589}" type="datetime1">
              <a:rPr lang="en-US" smtClean="0"/>
              <a:t>9/11/2026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E7CAC1-93B1-64AB-EF35-7493B9BA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954940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013465" y="-27388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6405FE-D58F-28D7-C791-C62DCA474709}"/>
              </a:ext>
            </a:extLst>
          </p:cNvPr>
          <p:cNvSpPr txBox="1"/>
          <p:nvPr/>
        </p:nvSpPr>
        <p:spPr>
          <a:xfrm>
            <a:off x="1394670" y="384000"/>
            <a:ext cx="6094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30BF34-62B2-26B3-EADA-86D162FCC55B}"/>
              </a:ext>
            </a:extLst>
          </p:cNvPr>
          <p:cNvSpPr txBox="1"/>
          <p:nvPr/>
        </p:nvSpPr>
        <p:spPr>
          <a:xfrm>
            <a:off x="588475" y="1407235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u="sng" dirty="0">
                <a:solidFill>
                  <a:srgbClr val="FF0000"/>
                </a:solidFill>
              </a:rPr>
              <a:t>Main Steps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7CB4A2-2A2E-86CF-4142-39F64ED32AFA}"/>
              </a:ext>
            </a:extLst>
          </p:cNvPr>
          <p:cNvSpPr txBox="1"/>
          <p:nvPr/>
        </p:nvSpPr>
        <p:spPr>
          <a:xfrm>
            <a:off x="588475" y="2056585"/>
            <a:ext cx="48802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– Remove errors and duplicate records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– Handle incomplete data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– Convert data into suitable formats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– Convert categorical values into numerical values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– Select relevant features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– Divide data into training and testing sets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2B1DDC-2369-4D9C-F72C-890092A4929F}"/>
              </a:ext>
            </a:extLst>
          </p:cNvPr>
          <p:cNvSpPr txBox="1"/>
          <p:nvPr/>
        </p:nvSpPr>
        <p:spPr>
          <a:xfrm>
            <a:off x="6052705" y="1367853"/>
            <a:ext cx="50039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Preprocessing?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0D78C1-76E2-A265-2557-CBA28882A15E}"/>
              </a:ext>
            </a:extLst>
          </p:cNvPr>
          <p:cNvSpPr txBox="1"/>
          <p:nvPr/>
        </p:nvSpPr>
        <p:spPr>
          <a:xfrm>
            <a:off x="6052705" y="1968104"/>
            <a:ext cx="585941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is the process of cleaning and transforming raw data before using it for machine learning.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F4FD0-3B47-32E3-863E-C601D4FB3821}"/>
              </a:ext>
            </a:extLst>
          </p:cNvPr>
          <p:cNvSpPr txBox="1"/>
          <p:nvPr/>
        </p:nvSpPr>
        <p:spPr>
          <a:xfrm>
            <a:off x="6096000" y="3440155"/>
            <a:ext cx="379567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it Needed?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063AA9-0980-024D-6F76-EF54C64D81AC}"/>
              </a:ext>
            </a:extLst>
          </p:cNvPr>
          <p:cNvSpPr txBox="1"/>
          <p:nvPr/>
        </p:nvSpPr>
        <p:spPr>
          <a:xfrm>
            <a:off x="6096000" y="4102709"/>
            <a:ext cx="461323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properly prepared data helps the ML model produce better predictions.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C15FA-BF3A-3868-46A5-28E640EA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C6F93-D921-46F0-BBDA-11B825B53112}" type="datetime1">
              <a:rPr lang="en-US" smtClean="0"/>
              <a:t>9/11/2026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7A5429-BFB1-3853-AE7F-0F1982F5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3747459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011881" y="-1662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1548F-3F8B-6271-6C7A-DCBBCEB4F768}"/>
              </a:ext>
            </a:extLst>
          </p:cNvPr>
          <p:cNvSpPr txBox="1"/>
          <p:nvPr/>
        </p:nvSpPr>
        <p:spPr>
          <a:xfrm>
            <a:off x="1403058" y="409950"/>
            <a:ext cx="7573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u="sng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Exploratory Data Analysis (EDA)</a:t>
            </a:r>
            <a:endParaRPr lang="en-US" u="sng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61D8C-5978-0F42-60A2-8DF9B7D0A95D}"/>
              </a:ext>
            </a:extLst>
          </p:cNvPr>
          <p:cNvSpPr txBox="1"/>
          <p:nvPr/>
        </p:nvSpPr>
        <p:spPr>
          <a:xfrm>
            <a:off x="353292" y="1419361"/>
            <a:ext cx="609460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u="sng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EDA in Our Project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6DCCA-93E9-765D-D0E5-C6E67E6FC036}"/>
              </a:ext>
            </a:extLst>
          </p:cNvPr>
          <p:cNvSpPr txBox="1"/>
          <p:nvPr/>
        </p:nvSpPr>
        <p:spPr>
          <a:xfrm>
            <a:off x="353292" y="2069411"/>
            <a:ext cx="4831103" cy="4094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Analyze Churn vs Non-Churn customers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Study the relationship between Tenure and Churn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Compare Monthly Charges and Churn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Analyze Contract Type and Churn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Identify important churn-related features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E5850B-2FBD-FCA0-B187-CDBF15763AF5}"/>
              </a:ext>
            </a:extLst>
          </p:cNvPr>
          <p:cNvSpPr txBox="1"/>
          <p:nvPr/>
        </p:nvSpPr>
        <p:spPr>
          <a:xfrm>
            <a:off x="5593932" y="1405067"/>
            <a:ext cx="363942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600" u="sng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What is EDA?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DE4D8F-9E92-0F4B-BDE9-A2CF372688AB}"/>
              </a:ext>
            </a:extLst>
          </p:cNvPr>
          <p:cNvSpPr txBox="1"/>
          <p:nvPr/>
        </p:nvSpPr>
        <p:spPr>
          <a:xfrm>
            <a:off x="5593932" y="2139636"/>
            <a:ext cx="6244775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" panose="02020603050405020304" pitchFamily="18" charset="0"/>
                <a:cs typeface="Times" panose="02020603050405020304" pitchFamily="18" charset="0"/>
              </a:rPr>
              <a:t>EDA is the process of examining and visualizing data to understand patterns, trends and relationships.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1B06DB3-543F-CED3-BA26-04C9B7D4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1380D-6B63-4856-A3D7-407FB015735F}" type="datetime1">
              <a:rPr lang="en-US" smtClean="0"/>
              <a:t>9/11/2026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F4B8462-8448-1D71-D961-8708C7EF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4028478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5319153A-4801-E5C0-168B-79B7EFCE0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67" y="1173885"/>
            <a:ext cx="8204210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customer prediction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SMS/email retention offers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ML/deep learning models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customer segmentation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telecom database integration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 based on customer behavior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4E907-C210-605A-0840-9FD7B1F74A5B}"/>
              </a:ext>
            </a:extLst>
          </p:cNvPr>
          <p:cNvSpPr/>
          <p:nvPr/>
        </p:nvSpPr>
        <p:spPr>
          <a:xfrm>
            <a:off x="838967" y="850720"/>
            <a:ext cx="32172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 sz="2400" b="1">
                <a:solidFill>
                  <a:srgbClr val="800000"/>
                </a:solidFill>
                <a:latin typeface="Times New Roman"/>
              </a:defRPr>
            </a:pPr>
            <a:r>
              <a:rPr lang="en-IN" sz="3600" u="sng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11" name="Parallelogram 6">
            <a:extLst>
              <a:ext uri="{FF2B5EF4-FFF2-40B4-BE49-F238E27FC236}">
                <a16:creationId xmlns:a16="http://schemas.microsoft.com/office/drawing/2014/main" id="{5ADB607A-6682-B58E-E61C-46034CBF993D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6">
            <a:extLst>
              <a:ext uri="{FF2B5EF4-FFF2-40B4-BE49-F238E27FC236}">
                <a16:creationId xmlns:a16="http://schemas.microsoft.com/office/drawing/2014/main" id="{AC6E54BD-C5B4-AFA6-29AC-DAFC67974B3A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0E443E-FCD5-4043-9297-F3425BE542F5}"/>
              </a:ext>
            </a:extLst>
          </p:cNvPr>
          <p:cNvGrpSpPr/>
          <p:nvPr/>
        </p:nvGrpSpPr>
        <p:grpSpPr>
          <a:xfrm>
            <a:off x="10807182" y="198394"/>
            <a:ext cx="1180119" cy="1304651"/>
            <a:chOff x="5449281" y="2761932"/>
            <a:chExt cx="1289974" cy="1334135"/>
          </a:xfrm>
        </p:grpSpPr>
        <p:sp>
          <p:nvSpPr>
            <p:cNvPr id="14" name="Shape 454">
              <a:extLst>
                <a:ext uri="{FF2B5EF4-FFF2-40B4-BE49-F238E27FC236}">
                  <a16:creationId xmlns:a16="http://schemas.microsoft.com/office/drawing/2014/main" id="{ADFF7F8F-79EF-8D94-C8EE-F374392FBB23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159BD66-0A2D-A5BA-BF60-1DE5807B5F7C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9936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013465" y="0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88474" y="1740235"/>
            <a:ext cx="7856785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customer usage and behavioral data to predict churn.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Machine Learning models to analyze historical customer data.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customers based on their churn probability.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potentially dissatisfied customers.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telecom companies take preventive retention actions.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8474" y="652325"/>
            <a:ext cx="28023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  <a:defRPr sz="2400" b="1">
                <a:solidFill>
                  <a:srgbClr val="800000"/>
                </a:solidFill>
                <a:latin typeface="Times New Roman"/>
              </a:defRPr>
            </a:pPr>
            <a:r>
              <a:rPr lang="en-IN" sz="3600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FB8D9B6-688B-418A-971C-9ADC682D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5D3C3-051C-4F97-82B1-235829B85A11}" type="datetime1">
              <a:rPr lang="en-US" smtClean="0"/>
              <a:t>9/11/2026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3B677D-3813-8B56-87AC-229D32E6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Project: Customer Churn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2507849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17</a:t>
            </a:fld>
            <a:endParaRPr lang="en-US"/>
          </a:p>
        </p:txBody>
      </p:sp>
      <p:sp>
        <p:nvSpPr>
          <p:cNvPr id="11" name="Parallelogram 6">
            <a:extLst>
              <a:ext uri="{FF2B5EF4-FFF2-40B4-BE49-F238E27FC236}">
                <a16:creationId xmlns:a16="http://schemas.microsoft.com/office/drawing/2014/main" id="{1DD41099-9E2C-18E1-DFA1-2C5D22B21654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rallelogram 6">
            <a:extLst>
              <a:ext uri="{FF2B5EF4-FFF2-40B4-BE49-F238E27FC236}">
                <a16:creationId xmlns:a16="http://schemas.microsoft.com/office/drawing/2014/main" id="{0676C22A-9BB1-E5E6-AD72-7BC5B36E784A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14D4B3-8B33-7B1D-9A97-627CA48DB422}"/>
              </a:ext>
            </a:extLst>
          </p:cNvPr>
          <p:cNvGrpSpPr/>
          <p:nvPr/>
        </p:nvGrpSpPr>
        <p:grpSpPr>
          <a:xfrm>
            <a:off x="10863533" y="-14672"/>
            <a:ext cx="1328467" cy="1350819"/>
            <a:chOff x="5449281" y="2761932"/>
            <a:chExt cx="1289974" cy="1334135"/>
          </a:xfrm>
        </p:grpSpPr>
        <p:sp>
          <p:nvSpPr>
            <p:cNvPr id="15" name="Shape 454">
              <a:extLst>
                <a:ext uri="{FF2B5EF4-FFF2-40B4-BE49-F238E27FC236}">
                  <a16:creationId xmlns:a16="http://schemas.microsoft.com/office/drawing/2014/main" id="{6072F9FF-5E52-B1D6-879F-9590E7DB0DCF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D0FB81B-04D1-CAA9-A053-3172C1356C46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A3DF11A-6059-4307-A1FC-3ACDC0D1F5B0}"/>
              </a:ext>
            </a:extLst>
          </p:cNvPr>
          <p:cNvSpPr txBox="1"/>
          <p:nvPr/>
        </p:nvSpPr>
        <p:spPr>
          <a:xfrm>
            <a:off x="1347537" y="660738"/>
            <a:ext cx="6152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u="sng" dirty="0">
                <a:solidFill>
                  <a:srgbClr val="FF0000"/>
                </a:solidFill>
              </a:rPr>
              <a:t>References APA format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25ECF5-E6E5-8DE6-DD39-75E775E2B395}"/>
              </a:ext>
            </a:extLst>
          </p:cNvPr>
          <p:cNvSpPr txBox="1"/>
          <p:nvPr/>
        </p:nvSpPr>
        <p:spPr>
          <a:xfrm>
            <a:off x="1347537" y="1669415"/>
            <a:ext cx="952901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IBM. (n.d.). </a:t>
            </a:r>
            <a:r>
              <a:rPr lang="en-US" i="1" dirty="0"/>
              <a:t>Customer churn analytics</a:t>
            </a:r>
            <a:r>
              <a:rPr lang="en-US" dirty="0"/>
              <a:t>. IBM. </a:t>
            </a:r>
            <a:r>
              <a:rPr lang="en-US" dirty="0">
                <a:hlinkClick r:id="rId3"/>
              </a:rPr>
              <a:t>https://www.ibm.com/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Kaggle. (n.d.). </a:t>
            </a:r>
            <a:r>
              <a:rPr lang="en-US" i="1" dirty="0"/>
              <a:t>Telco customer churn dataset</a:t>
            </a:r>
            <a:r>
              <a:rPr lang="en-US" dirty="0"/>
              <a:t>. Kaggle. </a:t>
            </a:r>
            <a:r>
              <a:rPr lang="en-US" dirty="0">
                <a:hlinkClick r:id="rId4"/>
              </a:rPr>
              <a:t>https://www.kaggle.com/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Pedregosa, F., </a:t>
            </a:r>
            <a:r>
              <a:rPr lang="en-US" dirty="0" err="1"/>
              <a:t>Varoquaux</a:t>
            </a:r>
            <a:r>
              <a:rPr lang="en-US" dirty="0"/>
              <a:t>, G., </a:t>
            </a:r>
            <a:r>
              <a:rPr lang="en-US" dirty="0" err="1"/>
              <a:t>Gramfort</a:t>
            </a:r>
            <a:r>
              <a:rPr lang="en-US" dirty="0"/>
              <a:t>, A., Michel, V., Thirion, B., Grisel, O., Blondel, M., </a:t>
            </a:r>
            <a:r>
              <a:rPr lang="en-US" dirty="0" err="1"/>
              <a:t>Prettenhofer</a:t>
            </a:r>
            <a:r>
              <a:rPr lang="en-US" dirty="0"/>
              <a:t>, P., Weiss, R., Dubourg, V., Vanderplas, J., Passos, A., </a:t>
            </a:r>
            <a:r>
              <a:rPr lang="en-US" dirty="0" err="1"/>
              <a:t>Cournapeau</a:t>
            </a:r>
            <a:r>
              <a:rPr lang="en-US" dirty="0"/>
              <a:t>, D., Brucher, M., Perrot, M., &amp; Duchesnay, É. (2011). Scikit-learn: Machine learning in Python. </a:t>
            </a:r>
            <a:r>
              <a:rPr lang="en-US" i="1" dirty="0"/>
              <a:t>Journal of Machine Learning Research, 12</a:t>
            </a:r>
            <a:r>
              <a:rPr lang="en-US" dirty="0"/>
              <a:t>, 2825–2830.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Python Software Foundation. (n.d.). </a:t>
            </a:r>
            <a:r>
              <a:rPr lang="en-US" i="1" dirty="0"/>
              <a:t>Python 3 documentation</a:t>
            </a:r>
            <a:r>
              <a:rPr lang="en-US" dirty="0"/>
              <a:t>. </a:t>
            </a:r>
            <a:r>
              <a:rPr lang="en-US" dirty="0">
                <a:hlinkClick r:id="rId5"/>
              </a:rPr>
              <a:t>https://docs.python.org/3/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The pandas development team. (n.d.). </a:t>
            </a:r>
            <a:r>
              <a:rPr lang="en-US" i="1" dirty="0"/>
              <a:t>panda documentation</a:t>
            </a:r>
            <a:r>
              <a:rPr lang="en-US" dirty="0"/>
              <a:t>. </a:t>
            </a:r>
            <a:r>
              <a:rPr lang="en-US" dirty="0">
                <a:hlinkClick r:id="rId6"/>
              </a:rPr>
              <a:t>https://pandas.pydata.org/docs/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NumPy Developers. (n.d.). </a:t>
            </a:r>
            <a:r>
              <a:rPr lang="en-US" i="1" dirty="0"/>
              <a:t>NumPy documentation</a:t>
            </a:r>
            <a:r>
              <a:rPr lang="en-US" dirty="0"/>
              <a:t>. </a:t>
            </a:r>
            <a:r>
              <a:rPr lang="en-US" dirty="0">
                <a:hlinkClick r:id="rId7"/>
              </a:rPr>
              <a:t>https://numpy.org/doc/</a:t>
            </a:r>
            <a:r>
              <a:rPr lang="en-US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Verbeke, W., Martens, D., Mues, C., &amp; </a:t>
            </a:r>
            <a:r>
              <a:rPr lang="en-US" dirty="0" err="1"/>
              <a:t>Baesens</a:t>
            </a:r>
            <a:r>
              <a:rPr lang="en-US" dirty="0"/>
              <a:t>, B. (2011). Building comprehensible customer churn prediction models with advanced rule induction techniques. </a:t>
            </a:r>
            <a:r>
              <a:rPr lang="en-US" i="1" dirty="0"/>
              <a:t>Expert Systems with Applications, 38</a:t>
            </a:r>
            <a:r>
              <a:rPr lang="en-US" dirty="0"/>
              <a:t>(3), 2354–2364.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Han, J., Kamber, M., &amp; Pei, J. (2012). </a:t>
            </a:r>
            <a:r>
              <a:rPr lang="en-US" i="1" dirty="0"/>
              <a:t>Data mining: Concepts and techniques</a:t>
            </a:r>
            <a:r>
              <a:rPr lang="en-US" dirty="0"/>
              <a:t> (3rd ed.). Morgan Kaufmann</a:t>
            </a:r>
            <a:r>
              <a:rPr lang="en-US" sz="2400" dirty="0"/>
              <a:t>.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1C91B6F0-DC2C-0BF5-A57C-F03F4AA5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5C597-A139-43ED-AA30-8FF67B184D5C}" type="datetime1">
              <a:rPr lang="en-US" smtClean="0"/>
              <a:t>9/11/2026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73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1E068-5AF0-4C18-1DEF-8E0F3BE0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18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98FCA1-6598-A1B1-75BE-F1618CC503D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4E2A06E-FD01-4319-9BA2-A5A831CBF1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Parallelogram 6">
            <a:extLst>
              <a:ext uri="{FF2B5EF4-FFF2-40B4-BE49-F238E27FC236}">
                <a16:creationId xmlns:a16="http://schemas.microsoft.com/office/drawing/2014/main" id="{6A14AF2C-8067-7CC1-F99E-8D3C4E77E0C0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B207B8FE-B2F9-109C-F245-20A1DFE86FDB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37C1B9-0D3E-639B-BC75-6CBE257E7612}"/>
              </a:ext>
            </a:extLst>
          </p:cNvPr>
          <p:cNvGrpSpPr/>
          <p:nvPr/>
        </p:nvGrpSpPr>
        <p:grpSpPr>
          <a:xfrm>
            <a:off x="10239555" y="0"/>
            <a:ext cx="1952446" cy="1811547"/>
            <a:chOff x="5449281" y="2761932"/>
            <a:chExt cx="1289974" cy="1334135"/>
          </a:xfrm>
        </p:grpSpPr>
        <p:sp>
          <p:nvSpPr>
            <p:cNvPr id="9" name="Shape 454">
              <a:extLst>
                <a:ext uri="{FF2B5EF4-FFF2-40B4-BE49-F238E27FC236}">
                  <a16:creationId xmlns:a16="http://schemas.microsoft.com/office/drawing/2014/main" id="{5ABE0020-5C09-264B-7364-56E54707BBDF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E1F721-8C2F-2D71-7775-11D04EBA4CB3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749E8CD-CD06-A6E6-9CCD-9AD5766D0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561" y="609599"/>
            <a:ext cx="6388769" cy="425917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49C1AD-67C6-8EBE-2ACB-9D4BF351D0FF}"/>
              </a:ext>
            </a:extLst>
          </p:cNvPr>
          <p:cNvSpPr txBox="1"/>
          <p:nvPr/>
        </p:nvSpPr>
        <p:spPr>
          <a:xfrm>
            <a:off x="2530643" y="5161908"/>
            <a:ext cx="7194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u="sng" dirty="0">
                <a:solidFill>
                  <a:srgbClr val="FF0000"/>
                </a:solidFill>
              </a:rPr>
              <a:t>Questions &amp; Answers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5A425FB5-D943-5262-A05F-622245430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BCB89-3719-4BF1-AB42-FC0D0E5E74BD}" type="datetime1">
              <a:rPr lang="en-US" smtClean="0"/>
              <a:t>9/11/2026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8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1318</Words>
  <Application>Microsoft Office PowerPoint</Application>
  <PresentationFormat>Widescreen</PresentationFormat>
  <Paragraphs>267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Ajile</vt:lpstr>
      <vt:lpstr>Arial</vt:lpstr>
      <vt:lpstr>Calibri</vt:lpstr>
      <vt:lpstr>Calibri Light</vt:lpstr>
      <vt:lpstr>Cambria</vt:lpstr>
      <vt:lpstr>Times</vt:lpstr>
      <vt:lpstr>Times New Roman</vt:lpstr>
      <vt:lpstr>Wingdings</vt:lpstr>
      <vt:lpstr>Office Theme</vt:lpstr>
      <vt:lpstr> Semester Project – I “Customer Churn Prediction System” By Dhiraj Sunil Mahajan (251108029 &amp; AD026) Mohit Shankar Zope (251108083  &amp; AD069) Hemant Sandip Fegade (251108090 &amp; AD075) Mayur Arun Mahajan (251108097 &amp; AD081)  Under the Guidance of  Prof. Sandip S. Hire </vt:lpstr>
      <vt:lpstr>Outline </vt:lpstr>
      <vt:lpstr>Domain Overview</vt:lpstr>
      <vt:lpstr>Why this domain?</vt:lpstr>
      <vt:lpstr> </vt:lpstr>
      <vt:lpstr> </vt:lpstr>
      <vt:lpstr> </vt:lpstr>
      <vt:lpstr> </vt:lpstr>
      <vt:lpstr> </vt:lpstr>
      <vt:lpstr>PowerPoint Presentation</vt:lpstr>
      <vt:lpstr>PowerPoint Presentation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Dhiraj Mahajan</cp:lastModifiedBy>
  <cp:revision>40</cp:revision>
  <dcterms:created xsi:type="dcterms:W3CDTF">2023-11-04T09:41:24Z</dcterms:created>
  <dcterms:modified xsi:type="dcterms:W3CDTF">2026-09-11T17:06:21Z</dcterms:modified>
</cp:coreProperties>
</file>